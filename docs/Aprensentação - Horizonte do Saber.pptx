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83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5A9E">
              <a:alpha val="60000"/>
            </a:srgbClr>
          </a:solidFill>
          <a:ln w="12700">
            <a:solidFill>
              <a:srgbClr val="0D5A9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do Saber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Sistema — 2026</a:t>
            </a:r>
            <a:endParaRPr lang="en-US" sz="1200" b="1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oficiais: Azul · Branco · Verde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Solicitante: Prof. Carlos Henrique Almeida – Diretor Geral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424B44A-FC4B-BF97-1D46-9057B1426756}"/>
              </a:ext>
            </a:extLst>
          </p:cNvPr>
          <p:cNvSpPr/>
          <p:nvPr/>
        </p:nvSpPr>
        <p:spPr>
          <a:xfrm>
            <a:off x="457200" y="2571750"/>
            <a:ext cx="4572000" cy="84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Veira da Silva</a:t>
            </a:r>
            <a:b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Felipe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Belotto</a:t>
            </a:r>
            <a:b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Vinícius Emanuel da Silva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969E768-C582-483F-676C-9755C9093A22}"/>
              </a:ext>
            </a:extLst>
          </p:cNvPr>
          <p:cNvGrpSpPr/>
          <p:nvPr/>
        </p:nvGrpSpPr>
        <p:grpSpPr>
          <a:xfrm>
            <a:off x="6172200" y="245989"/>
            <a:ext cx="2743200" cy="1656862"/>
            <a:chOff x="6056923" y="351692"/>
            <a:chExt cx="2743200" cy="1656862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49A2DB6D-D7BA-8245-690C-23D053DFC050}"/>
                </a:ext>
              </a:extLst>
            </p:cNvPr>
            <p:cNvSpPr/>
            <p:nvPr/>
          </p:nvSpPr>
          <p:spPr>
            <a:xfrm>
              <a:off x="6056923" y="351692"/>
              <a:ext cx="2743200" cy="165686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61CFF0A-4D87-6017-94B8-0A129E87C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6839" y="544363"/>
              <a:ext cx="2323367" cy="12672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Escola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92024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Matriculados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1920240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5800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Pavimentos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74320" y="2240280"/>
            <a:ext cx="4572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1148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Fundamental 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542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ao 5º ano — única unidade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45720" cy="6858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1148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de funcionamento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364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Matutino e Vespertino, de segunda a sexta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754880" y="2240280"/>
            <a:ext cx="4572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9204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atual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542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manuais e planilhas (matrículas, notas, frequência)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754880" y="3063240"/>
            <a:ext cx="45720" cy="6858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89204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364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sistema informatizado de gestão escolar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Atual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54864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6616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Administrativas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" y="1353312"/>
            <a:ext cx="3931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computadores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1 TB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54864" cy="1737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37176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Dedicado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37176" y="1353312"/>
            <a:ext cx="3931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2019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 RAM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TB de armazenamento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hospedagem do sistema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54864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56616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" y="3227832"/>
            <a:ext cx="3931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Cabeamento estruturado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 (LAN)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técnico de TI dedicado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54864" cy="17373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37176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&amp; TI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37176" y="3227832"/>
            <a:ext cx="3931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técnico responsável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de computadores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rede local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ao desenvolvimento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Perfis de Acesso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697480" cy="132588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blurRad="635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 ao sistema. Gerencia usuários, configurações, dados e pode corrigir qualquer lançamento.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697480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46120" y="914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matrículas, cadastra e altera alunos, consulta históricos e imprime documentos.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914400"/>
            <a:ext cx="2697480" cy="1325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72200" y="914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280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às próprias turmas. Lança notas, frequência e consulta dados dos alunos vinculados.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423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Segurança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60520" cy="384048"/>
          </a:xfrm>
          <a:prstGeom prst="rect">
            <a:avLst/>
          </a:prstGeom>
          <a:solidFill>
            <a:srgbClr val="EBF3F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4572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02336" y="27706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usuário + senha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770632"/>
            <a:ext cx="4160520" cy="384048"/>
          </a:xfrm>
          <a:prstGeom prst="rect">
            <a:avLst/>
          </a:prstGeom>
          <a:solidFill>
            <a:srgbClr val="EAF5E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09160" y="2770632"/>
            <a:ext cx="457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37176" y="27706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após 5 tentativas inválidas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4160520" cy="384048"/>
          </a:xfrm>
          <a:prstGeom prst="rect">
            <a:avLst/>
          </a:prstGeom>
          <a:solidFill>
            <a:srgbClr val="EBF3F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74320" y="3246120"/>
            <a:ext cx="4572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02336" y="3246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Desbloqueio somente por Administrador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246120"/>
            <a:ext cx="4160520" cy="384048"/>
          </a:xfrm>
          <a:prstGeom prst="rect">
            <a:avLst/>
          </a:prstGeom>
          <a:solidFill>
            <a:srgbClr val="EAF5E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09160" y="3246120"/>
            <a:ext cx="457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837176" y="3246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automático: 30 min inativo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721608"/>
            <a:ext cx="4160520" cy="384048"/>
          </a:xfrm>
          <a:prstGeom prst="rect">
            <a:avLst/>
          </a:prstGeom>
          <a:solidFill>
            <a:srgbClr val="EBF3F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274320" y="3721608"/>
            <a:ext cx="4572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02336" y="3721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senha no 1º acesso / expirada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721608"/>
            <a:ext cx="4160520" cy="384048"/>
          </a:xfrm>
          <a:prstGeom prst="rect">
            <a:avLst/>
          </a:prstGeom>
          <a:solidFill>
            <a:srgbClr val="EAF5E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709160" y="3721608"/>
            <a:ext cx="457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837176" y="3721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armazenadas com hash criptográfico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97096"/>
            <a:ext cx="4160520" cy="384048"/>
          </a:xfrm>
          <a:prstGeom prst="rect">
            <a:avLst/>
          </a:prstGeom>
          <a:solidFill>
            <a:srgbClr val="EBF3F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274320" y="4197096"/>
            <a:ext cx="4572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02336" y="41970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acesso: usuário, data, hora, resultado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4197096"/>
            <a:ext cx="4160520" cy="384048"/>
          </a:xfrm>
          <a:prstGeom prst="rect">
            <a:avLst/>
          </a:prstGeom>
          <a:solidFill>
            <a:srgbClr val="EAF5EC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4709160" y="4197096"/>
            <a:ext cx="457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837176" y="41970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senha via senha temporária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do Sistema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01168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1752" y="960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3441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alteração, inativação, consulta e controle por RA, CPF e turma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96312" y="960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3441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código funcional, vínculo a turmas, inativação com sinalização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690872" y="960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3441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descrição, carga horária anual. Vínculo a turmas e professores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3200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85432" y="960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13441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letivo, série, turno, professor regente e disciplinas específicas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28600" y="2971800"/>
            <a:ext cx="201168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01752" y="2971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35584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aluno-turma por ano letivo. Situações: Ativa, Trancada, Cancelada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3160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423160" y="2971800"/>
            <a:ext cx="201168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496312" y="2971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335584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por bimestre, cálculo automático de média e resultado final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617720" y="2971800"/>
            <a:ext cx="201168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690872" y="2971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35584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aula, percentual automático, alertas de limite de faltas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F5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812280" y="2971800"/>
            <a:ext cx="2011680" cy="3200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885432" y="2971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335584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turma, período, desempenho e risco de reprovação — exportáveis em 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Casos de Uso — Autenticação &amp; Usuários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31520"/>
            <a:ext cx="4206240" cy="39319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731520"/>
            <a:ext cx="420624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DCU01 – Autenticação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0916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DCU02 – Gestão de Usuários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Casos de Uso — Alunos &amp; Professores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DCU03 e DCU04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23705"/>
            <a:ext cx="4206240" cy="39319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731520"/>
            <a:ext cx="420624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DCU03 – Gestão de Alunos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0916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DCU04 – Gestão de Professores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Casos de Uso — Turmas &amp; Matrículas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DCU06 e DCU08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23705"/>
            <a:ext cx="4206240" cy="39319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731520"/>
            <a:ext cx="420624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DCU06 – Gestão de Turmas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0916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DCU08 – Matrícula Escolar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Casos de Uso — Notas &amp; Frequência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DCU09 e DCU10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23705"/>
            <a:ext cx="4206240" cy="39319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731520"/>
            <a:ext cx="420624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DCU09 – Notas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0916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DCU10 – Frequência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Casos de Uso — Histórico &amp; Relatórios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DCU11 e DCU12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23705"/>
            <a:ext cx="4206240" cy="39319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731520"/>
            <a:ext cx="420624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DCU11 – Histórico e Boletim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0916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DCU12 – Relatórios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Entidade-Relacionamento (DER)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do sistema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85800"/>
            <a:ext cx="868680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orientada a objetos do SIGA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85800"/>
            <a:ext cx="868680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— Notas &amp; Avaliação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8410"/>
            <a:ext cx="8686800" cy="12344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 Bimestral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Bimestral = </a:t>
            </a: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(AV1 + AV2) / 2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 resultado ≥ 5,0: média aprovada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&lt; 5,0 e REC aplicada: Média = </a:t>
            </a: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máx( (AV1+AV2)/2,  REC )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Média Anual = </a:t>
            </a: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Médias /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148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74904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" y="2532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anual ≥ 5,0 em todas as disciplinas E frequência ≥ 75%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54864" cy="10972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09744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por Nota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2532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anual &lt; 5,0 em qualquer disciplina após recuperação final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3832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28600" y="3383280"/>
            <a:ext cx="54864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74904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por Falta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" y="3767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anual &lt; 75% da carga horária, independente das notas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54864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09744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Recuperação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9744" y="3767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atingiu média bimestral &lt; 5,0 — recuperação bimestral aplicável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— Frequência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38328" y="1097280"/>
            <a:ext cx="6400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da carga horária total anual em cada disciplina. Abaixo disso, reprovação por falta.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73168" y="1097280"/>
            <a:ext cx="6400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7316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097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1417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emite alerta quando o aluno atingir 50% do limite de faltas permitido.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7889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38328" y="2971800"/>
            <a:ext cx="6400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832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Aula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291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registrada por aula, não por dia. Aula dupla gera dois registros independentes.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773168" y="2971800"/>
            <a:ext cx="6400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7316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971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Justificada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3291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justificadas são contabilizadas no total, mas podem ser analisadas individualmente pela coordenação.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do Sistema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54864" cy="17190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6616" y="1005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por Turma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" y="126187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os alunos de uma turma com a situação atual da matrícula (Ativa / Trancada / Cancelada).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54864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91456" y="1005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por Turma/Período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91456" y="126187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presença por aluno, com destaque visual para os que estão abaixo do mínimo de 75%.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889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28600" y="2788920"/>
            <a:ext cx="54864" cy="1719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56616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por Disciplina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" y="313639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 turma por disciplina em cada bimestre. Facilita identificação de disciplinas críticas.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63500" dist="25400" dir="8100000" algn="bl" rotWithShape="0">
              <a:srgbClr val="B0BEC5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54864" cy="17190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91456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em Risco de Reprovação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313639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alunos com média abaixo do mínimo ou frequência insuficiente. Suporte à tomada de decisão pedagógica.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&amp; Encerramento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Ensino Fundamental Horizonte do Saber  |  SIGA – Sistema Integrado de Gestão Acadêmica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7432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Ano Letivo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21615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início, encerramento, dias letivos, feriados e datas de avaliação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432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91840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Automático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121615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atingir a data de encerramento, novos lançamentos de notas e frequência são bloqueados automaticamente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172200" y="868680"/>
            <a:ext cx="274320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3640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Pendentes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121615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não lançadas até o encerramento do período são sinalizadas como pendentes no sistema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27432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Exclusivo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22783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o Administrador pode cadastrar e alterar o Ano Letivo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2926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29184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Preservado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322783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histórico de matrículas, notas e frequência de anos anteriores é mantido integralmente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172200" y="2880360"/>
            <a:ext cx="27432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26364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Avaliação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consultável por todos os perfis. Caráter informativo e organizacional.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5A9E">
              <a:alpha val="60000"/>
            </a:srgbClr>
          </a:solidFill>
          <a:ln w="12700">
            <a:solidFill>
              <a:srgbClr val="0D5A9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3544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211776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200" dirty="0" err="1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representa a modernização dos </a:t>
            </a:r>
            <a:r>
              <a:rPr lang="en-US" sz="1200" dirty="0" err="1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acadêmicos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administrativos da Escola Horizonte do Saber, </a:t>
            </a:r>
            <a:r>
              <a:rPr lang="en-US" sz="1200" dirty="0" err="1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garantindo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controle, transparência e eficiência.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Carlos Henrique Almeida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Geral — Escola de Ensino Fundamental Horizonte do Saber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1168</Words>
  <Application>Microsoft Office PowerPoint</Application>
  <PresentationFormat>Apresentação na tela (16:9)</PresentationFormat>
  <Paragraphs>183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SIGA - Sistema de Gestão Escolar | Horizonte do Saber</dc:title>
  <dc:subject>PptxGenJS Presentation</dc:subject>
  <dc:creator>PptxGenJS</dc:creator>
  <cp:lastModifiedBy>Vinícius Silva</cp:lastModifiedBy>
  <cp:revision>4</cp:revision>
  <dcterms:created xsi:type="dcterms:W3CDTF">2026-03-28T13:06:33Z</dcterms:created>
  <dcterms:modified xsi:type="dcterms:W3CDTF">2026-03-28T13:28:51Z</dcterms:modified>
</cp:coreProperties>
</file>